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512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</p:spPr>
        <p:txBody>
          <a:bodyPr anchor="b">
            <a:normAutofit/>
          </a:bodyPr>
          <a:lstStyle>
            <a:lvl1pPr algn="ctr">
              <a:defRPr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1905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23010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60317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013" y="3308581"/>
            <a:ext cx="8686800" cy="1468800"/>
          </a:xfrm>
        </p:spPr>
        <p:txBody>
          <a:bodyPr anchor="b"/>
          <a:lstStyle>
            <a:lvl1pPr algn="r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1011" y="4777381"/>
            <a:ext cx="8686801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1128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2666999"/>
            <a:ext cx="4876800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612" y="2667000"/>
            <a:ext cx="4876800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59825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9280" y="2658533"/>
            <a:ext cx="458893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2" y="3243262"/>
            <a:ext cx="4876800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43133" y="2667000"/>
            <a:ext cx="4604280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612" y="3243262"/>
            <a:ext cx="4876801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7237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82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29610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3549121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3812" y="609601"/>
            <a:ext cx="5943601" cy="51816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3549121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21240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5334001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33733" y="-18288"/>
            <a:ext cx="3276599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5334001" cy="18288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99212" y="5883275"/>
            <a:ext cx="914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2" y="5883275"/>
            <a:ext cx="51054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42612" y="5883275"/>
            <a:ext cx="32256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0762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4732865"/>
            <a:ext cx="99060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796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3" y="5299603"/>
            <a:ext cx="99060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53936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3124199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96402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buNone/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95799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3308581"/>
            <a:ext cx="99060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0" y="4777381"/>
            <a:ext cx="9906001" cy="8604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513599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886200"/>
            <a:ext cx="9906000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775200"/>
            <a:ext cx="9906000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919150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505200"/>
            <a:ext cx="99060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823293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079956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09599"/>
            <a:ext cx="2210514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2" y="609600"/>
            <a:ext cx="7543800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0312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3" y="2666999"/>
            <a:ext cx="990599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35319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6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20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6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3703320" y="182880"/>
            <a:ext cx="7040880" cy="124341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IN" sz="3800" b="1" u="sng" dirty="0">
                <a:solidFill>
                  <a:srgbClr val="FF0000"/>
                </a:solidFill>
                <a:latin typeface="Aptos"/>
              </a:rPr>
              <a:t>TEAM “team”</a:t>
            </a:r>
          </a:p>
          <a:p>
            <a:pPr algn="l">
              <a:spcAft>
                <a:spcPts val="0"/>
              </a:spcAft>
            </a:pPr>
            <a:r>
              <a:rPr lang="en-IN" sz="3800" b="1" u="sng" dirty="0">
                <a:solidFill>
                  <a:srgbClr val="FF0000"/>
                </a:solidFill>
                <a:latin typeface="Aptos"/>
              </a:rPr>
              <a:t> Image Classifier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18688" y="1324653"/>
            <a:ext cx="6583680" cy="8229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0" dirty="0">
                <a:solidFill>
                  <a:srgbClr val="ADBBCF"/>
                </a:solidFill>
                <a:latin typeface="Aptos"/>
              </a:rPr>
              <a:t>How our model understands an image
and suggests useful categories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07792" y="2293447"/>
            <a:ext cx="4892040" cy="621792"/>
          </a:xfrm>
          <a:prstGeom prst="roundRect">
            <a:avLst/>
          </a:prstGeom>
          <a:solidFill>
            <a:srgbClr val="192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3" name="TextBox 12"/>
          <p:cNvSpPr txBox="1"/>
          <p:nvPr/>
        </p:nvSpPr>
        <p:spPr>
          <a:xfrm>
            <a:off x="3474720" y="2440054"/>
            <a:ext cx="448056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dirty="0">
                <a:solidFill>
                  <a:srgbClr val="00E6B4"/>
                </a:solidFill>
                <a:latin typeface="Aptos"/>
              </a:rPr>
              <a:t>SEE  →  MATCH  →  SUGGEST  →  LEARN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726FC46D-6AEB-1381-0DF8-D5C9714868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2074" y="3756184"/>
            <a:ext cx="5523475" cy="310181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47472"/>
            <a:ext cx="1088136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00E6B4"/>
                </a:solidFill>
                <a:latin typeface="Aptos"/>
              </a:rPr>
              <a:t>01 / 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F4F7FC"/>
                </a:solidFill>
                <a:latin typeface="Aptos"/>
              </a:rPr>
              <a:t>Good images are only useful when people can find them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07592"/>
            <a:ext cx="10789920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ADBBCF"/>
                </a:solidFill>
                <a:latin typeface="Aptos"/>
              </a:rPr>
              <a:t>Wikimedia Commons stores free media, but images need meaningful categories to be discoverable.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ADBBCF"/>
                </a:solidFill>
                <a:latin typeface="Aptos"/>
              </a:rP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057400"/>
            <a:ext cx="3383280" cy="2011680"/>
          </a:xfrm>
          <a:prstGeom prst="roundRect">
            <a:avLst/>
          </a:prstGeom>
          <a:solidFill>
            <a:srgbClr val="14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2057400"/>
            <a:ext cx="64008" cy="2011680"/>
          </a:xfrm>
          <a:prstGeom prst="rect">
            <a:avLst/>
          </a:prstGeom>
          <a:solidFill>
            <a:srgbClr val="43B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6968" y="2221992"/>
            <a:ext cx="41148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43B2FF"/>
                </a:solidFill>
                <a:latin typeface="Aptos"/>
              </a:rPr>
              <a:t>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221992"/>
            <a:ext cx="25146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4F7FC"/>
                </a:solidFill>
                <a:latin typeface="Aptos"/>
              </a:rPr>
              <a:t>A photo is uploaded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651760"/>
            <a:ext cx="2926080" cy="12984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ADBBCF"/>
                </a:solidFill>
                <a:latin typeface="Aptos"/>
              </a:rPr>
              <a:t>A person adds a new image to the media library.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2057400"/>
            <a:ext cx="3383280" cy="2011680"/>
          </a:xfrm>
          <a:prstGeom prst="roundRect">
            <a:avLst/>
          </a:prstGeom>
          <a:solidFill>
            <a:srgbClr val="14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89120" y="2057400"/>
            <a:ext cx="64008" cy="2011680"/>
          </a:xfrm>
          <a:prstGeom prst="rect">
            <a:avLst/>
          </a:prstGeom>
          <a:solidFill>
            <a:srgbClr val="FFB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90288" y="2221992"/>
            <a:ext cx="41148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FFB74D"/>
                </a:solidFill>
                <a:latin typeface="Aptos"/>
              </a:rPr>
              <a:t>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74920" y="2221992"/>
            <a:ext cx="25146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4F7FC"/>
                </a:solidFill>
                <a:latin typeface="Aptos"/>
              </a:rPr>
              <a:t>Categories may be missing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2651760"/>
            <a:ext cx="2926080" cy="12984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ADBBCF"/>
                </a:solidFill>
                <a:latin typeface="Aptos"/>
              </a:rPr>
              <a:t>Without useful labels, the image is harder to search for and reuse.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2057400"/>
            <a:ext cx="3383280" cy="2011680"/>
          </a:xfrm>
          <a:prstGeom prst="roundRect">
            <a:avLst/>
          </a:prstGeom>
          <a:solidFill>
            <a:srgbClr val="14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92440" y="2057400"/>
            <a:ext cx="64008" cy="2011680"/>
          </a:xfrm>
          <a:prstGeom prst="rect">
            <a:avLst/>
          </a:prstGeom>
          <a:solidFill>
            <a:srgbClr val="00E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93608" y="2221992"/>
            <a:ext cx="41148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00E6B4"/>
                </a:solidFill>
                <a:latin typeface="Aptos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78240" y="2221992"/>
            <a:ext cx="25146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4F7FC"/>
                </a:solidFill>
                <a:latin typeface="Aptos"/>
              </a:rPr>
              <a:t>Editors need a head start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2651760"/>
            <a:ext cx="2926080" cy="12984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ADBBCF"/>
                </a:solidFill>
                <a:latin typeface="Aptos"/>
              </a:rPr>
              <a:t>Our model suggests likely categories for a person to review.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" y="4663440"/>
            <a:ext cx="10332720" cy="749808"/>
          </a:xfrm>
          <a:prstGeom prst="roundRect">
            <a:avLst/>
          </a:prstGeom>
          <a:solidFill>
            <a:srgbClr val="192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143000" y="4864608"/>
            <a:ext cx="987552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4F7FC"/>
                </a:solidFill>
                <a:latin typeface="Aptos"/>
              </a:rPr>
              <a:t>Goal: make categorization faster — while keeping people in control.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47472"/>
            <a:ext cx="1088136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00E6B4"/>
                </a:solidFill>
                <a:latin typeface="Aptos"/>
              </a:rPr>
              <a:t>02 / BIG PICTURE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F4F7FC"/>
                </a:solidFill>
                <a:latin typeface="Aptos"/>
              </a:rPr>
              <a:t>From one image to useful suggestions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07592"/>
            <a:ext cx="10789920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ADBBCF"/>
                </a:solidFill>
                <a:latin typeface="Aptos"/>
              </a:rPr>
              <a:t>The system combines visual matching, a category list, and optional online enrichment.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ADBBCF"/>
                </a:solidFill>
                <a:latin typeface="Aptos"/>
              </a:rP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2240280"/>
            <a:ext cx="2514600" cy="1874519"/>
          </a:xfrm>
          <a:prstGeom prst="roundRect">
            <a:avLst/>
          </a:prstGeom>
          <a:solidFill>
            <a:srgbClr val="14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58368" y="2240280"/>
            <a:ext cx="64008" cy="1874519"/>
          </a:xfrm>
          <a:prstGeom prst="rect">
            <a:avLst/>
          </a:prstGeom>
          <a:solidFill>
            <a:srgbClr val="43B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9536" y="2404872"/>
            <a:ext cx="41148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43B2FF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44168" y="2404872"/>
            <a:ext cx="16459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4F7FC"/>
                </a:solidFill>
                <a:latin typeface="Aptos"/>
              </a:rPr>
              <a:t>UPLOAD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834640"/>
            <a:ext cx="2057400" cy="116128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ADBBCF"/>
                </a:solidFill>
                <a:latin typeface="Aptos"/>
              </a:rPr>
              <a:t>Choose an image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2971800"/>
            <a:ext cx="310896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>
                <a:solidFill>
                  <a:srgbClr val="ADBBCF"/>
                </a:solidFill>
                <a:latin typeface="Aptos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38728" y="2240280"/>
            <a:ext cx="2514600" cy="1874519"/>
          </a:xfrm>
          <a:prstGeom prst="roundRect">
            <a:avLst/>
          </a:prstGeom>
          <a:solidFill>
            <a:srgbClr val="14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538728" y="2240280"/>
            <a:ext cx="64008" cy="1874519"/>
          </a:xfrm>
          <a:prstGeom prst="rect">
            <a:avLst/>
          </a:prstGeom>
          <a:solidFill>
            <a:srgbClr val="00E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739896" y="2404872"/>
            <a:ext cx="41148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00E6B4"/>
                </a:solidFill>
                <a:latin typeface="Apto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24528" y="2404872"/>
            <a:ext cx="16459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4F7FC"/>
                </a:solidFill>
                <a:latin typeface="Aptos"/>
              </a:rPr>
              <a:t>UNDERSTAND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67328" y="2834640"/>
            <a:ext cx="2057400" cy="116128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ADBBCF"/>
                </a:solidFill>
                <a:latin typeface="Aptos"/>
              </a:rPr>
              <a:t>CLIP turns it into a visual fingerprint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2971800"/>
            <a:ext cx="310896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>
                <a:solidFill>
                  <a:srgbClr val="ADBBCF"/>
                </a:solidFill>
                <a:latin typeface="Aptos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19088" y="2240280"/>
            <a:ext cx="2514600" cy="1874519"/>
          </a:xfrm>
          <a:prstGeom prst="roundRect">
            <a:avLst/>
          </a:prstGeom>
          <a:solidFill>
            <a:srgbClr val="14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419088" y="2240280"/>
            <a:ext cx="64008" cy="1874519"/>
          </a:xfrm>
          <a:prstGeom prst="rect">
            <a:avLst/>
          </a:prstGeom>
          <a:solidFill>
            <a:srgbClr val="AE7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620255" y="2404872"/>
            <a:ext cx="41148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AE74FF"/>
                </a:solidFill>
                <a:latin typeface="Apto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04888" y="2404872"/>
            <a:ext cx="16459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4F7FC"/>
                </a:solidFill>
                <a:latin typeface="Aptos"/>
              </a:rPr>
              <a:t>COMPARE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47688" y="2834640"/>
            <a:ext cx="2057400" cy="116128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ADBBCF"/>
                </a:solidFill>
                <a:latin typeface="Aptos"/>
              </a:rPr>
              <a:t>Match against category descriptions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19" y="2971800"/>
            <a:ext cx="310896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>
                <a:solidFill>
                  <a:srgbClr val="ADBBCF"/>
                </a:solidFill>
                <a:latin typeface="Aptos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99448" y="2240280"/>
            <a:ext cx="2514600" cy="1874519"/>
          </a:xfrm>
          <a:prstGeom prst="roundRect">
            <a:avLst/>
          </a:prstGeom>
          <a:solidFill>
            <a:srgbClr val="14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9299448" y="2240280"/>
            <a:ext cx="64008" cy="1874519"/>
          </a:xfrm>
          <a:prstGeom prst="rect">
            <a:avLst/>
          </a:prstGeom>
          <a:solidFill>
            <a:srgbClr val="FFB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500616" y="2404872"/>
            <a:ext cx="41148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FFB74D"/>
                </a:solidFill>
                <a:latin typeface="Aptos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85248" y="2404872"/>
            <a:ext cx="16459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4F7FC"/>
                </a:solidFill>
                <a:latin typeface="Aptos"/>
              </a:rPr>
              <a:t>PRESENT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28048" y="2834640"/>
            <a:ext cx="2057400" cy="116128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ADBBCF"/>
                </a:solidFill>
                <a:latin typeface="Aptos"/>
              </a:rPr>
              <a:t>Show the strongest suggestions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14400" y="4800600"/>
            <a:ext cx="10332720" cy="685800"/>
          </a:xfrm>
          <a:prstGeom prst="roundRect">
            <a:avLst/>
          </a:prstGeom>
          <a:solidFill>
            <a:srgbClr val="192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97280" y="4983480"/>
            <a:ext cx="996696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>
                <a:solidFill>
                  <a:srgbClr val="ADBBCF"/>
                </a:solidFill>
                <a:latin typeface="Aptos"/>
              </a:rPr>
              <a:t>Optional: Gemini suggests extra keywords → Wikimedia Commons search finds related category pages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47472"/>
            <a:ext cx="1088136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00E6B4"/>
                </a:solidFill>
                <a:latin typeface="Aptos"/>
              </a:rPr>
              <a:t>03 / THE VISUAL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F4F7FC"/>
                </a:solidFill>
                <a:latin typeface="Aptos"/>
              </a:rPr>
              <a:t>CLIP creates a “visual fingerprint”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07592"/>
            <a:ext cx="10789920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ADBBCF"/>
                </a:solidFill>
                <a:latin typeface="Aptos"/>
              </a:rPr>
              <a:t>Instead of memorizing every possible photo, the model represents what an image looks like.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ADBBCF"/>
                </a:solidFill>
                <a:latin typeface="Aptos"/>
              </a:rP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011680"/>
            <a:ext cx="2834640" cy="2423160"/>
          </a:xfrm>
          <a:prstGeom prst="roundRect">
            <a:avLst/>
          </a:prstGeom>
          <a:solidFill>
            <a:srgbClr val="14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51560" y="2286000"/>
            <a:ext cx="22860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43B2FF"/>
                </a:solidFill>
                <a:latin typeface="Aptos"/>
              </a:rPr>
              <a:t>INPUT IMAGE</a:t>
            </a:r>
          </a:p>
        </p:txBody>
      </p:sp>
      <p:sp>
        <p:nvSpPr>
          <p:cNvPr id="8" name="Rectangle 7"/>
          <p:cNvSpPr/>
          <p:nvPr/>
        </p:nvSpPr>
        <p:spPr>
          <a:xfrm>
            <a:off x="1325880" y="2788920"/>
            <a:ext cx="1737360" cy="1097280"/>
          </a:xfrm>
          <a:prstGeom prst="rect">
            <a:avLst/>
          </a:prstGeom>
          <a:solidFill>
            <a:srgbClr val="1B4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2542032" y="2926080"/>
            <a:ext cx="256032" cy="256032"/>
          </a:xfrm>
          <a:prstGeom prst="ellipse">
            <a:avLst/>
          </a:prstGeom>
          <a:solidFill>
            <a:srgbClr val="FFB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Isosceles Triangle 9"/>
          <p:cNvSpPr/>
          <p:nvPr/>
        </p:nvSpPr>
        <p:spPr>
          <a:xfrm>
            <a:off x="1417320" y="3154680"/>
            <a:ext cx="914400" cy="731520"/>
          </a:xfrm>
          <a:prstGeom prst="triangle">
            <a:avLst/>
          </a:prstGeom>
          <a:solidFill>
            <a:srgbClr val="00E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Isosceles Triangle 10"/>
          <p:cNvSpPr/>
          <p:nvPr/>
        </p:nvSpPr>
        <p:spPr>
          <a:xfrm>
            <a:off x="1965960" y="3246120"/>
            <a:ext cx="822960" cy="640080"/>
          </a:xfrm>
          <a:prstGeom prst="triangle">
            <a:avLst/>
          </a:prstGeom>
          <a:solidFill>
            <a:srgbClr val="43B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886200" y="2926080"/>
            <a:ext cx="548640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ADBBCF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63440" y="2240280"/>
            <a:ext cx="2926080" cy="1965960"/>
          </a:xfrm>
          <a:prstGeom prst="roundRect">
            <a:avLst/>
          </a:prstGeom>
          <a:solidFill>
            <a:srgbClr val="192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37760" y="2487168"/>
            <a:ext cx="23774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00E6B4"/>
                </a:solidFill>
                <a:latin typeface="Aptos"/>
              </a:rPr>
              <a:t>CLIP MODEL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983480" y="3063240"/>
            <a:ext cx="164592" cy="320040"/>
          </a:xfrm>
          <a:prstGeom prst="roundRect">
            <a:avLst/>
          </a:prstGeom>
          <a:solidFill>
            <a:srgbClr val="00E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5266944" y="3063240"/>
            <a:ext cx="164592" cy="685800"/>
          </a:xfrm>
          <a:prstGeom prst="roundRect">
            <a:avLst/>
          </a:prstGeom>
          <a:solidFill>
            <a:srgbClr val="43B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550408" y="3063240"/>
            <a:ext cx="164592" cy="457200"/>
          </a:xfrm>
          <a:prstGeom prst="roundRect">
            <a:avLst/>
          </a:prstGeom>
          <a:solidFill>
            <a:srgbClr val="AE7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833872" y="3063240"/>
            <a:ext cx="164592" cy="960120"/>
          </a:xfrm>
          <a:prstGeom prst="roundRect">
            <a:avLst/>
          </a:prstGeom>
          <a:solidFill>
            <a:srgbClr val="00E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117336" y="3063240"/>
            <a:ext cx="164592" cy="566928"/>
          </a:xfrm>
          <a:prstGeom prst="roundRect">
            <a:avLst/>
          </a:prstGeom>
          <a:solidFill>
            <a:srgbClr val="43B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400800" y="3063240"/>
            <a:ext cx="164592" cy="822960"/>
          </a:xfrm>
          <a:prstGeom prst="roundRect">
            <a:avLst/>
          </a:prstGeom>
          <a:solidFill>
            <a:srgbClr val="AE7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6684264" y="3063240"/>
            <a:ext cx="164592" cy="384048"/>
          </a:xfrm>
          <a:prstGeom prst="roundRect">
            <a:avLst/>
          </a:prstGeom>
          <a:solidFill>
            <a:srgbClr val="00E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6967728" y="3063240"/>
            <a:ext cx="164592" cy="640080"/>
          </a:xfrm>
          <a:prstGeom prst="roundRect">
            <a:avLst/>
          </a:prstGeom>
          <a:solidFill>
            <a:srgbClr val="43B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892040" y="3840480"/>
            <a:ext cx="24688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ADBBCF"/>
                </a:solidFill>
                <a:latin typeface="Aptos"/>
              </a:rPr>
              <a:t>A compact pattern of features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09560" y="2926080"/>
            <a:ext cx="548640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ADBBCF"/>
                </a:solidFill>
                <a:latin typeface="Aptos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641080" y="2011680"/>
            <a:ext cx="2743200" cy="2423160"/>
          </a:xfrm>
          <a:prstGeom prst="roundRect">
            <a:avLst/>
          </a:prstGeom>
          <a:solidFill>
            <a:srgbClr val="14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869680" y="2331720"/>
            <a:ext cx="22860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AE74FF"/>
                </a:solidFill>
                <a:latin typeface="Aptos"/>
              </a:rPr>
              <a:t>COMPARE WITH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06840" y="2834640"/>
            <a:ext cx="1965960" cy="329184"/>
          </a:xfrm>
          <a:prstGeom prst="roundRect">
            <a:avLst/>
          </a:prstGeom>
          <a:solidFill>
            <a:srgbClr val="192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144000" y="2898648"/>
            <a:ext cx="16459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F4F7FC"/>
                </a:solidFill>
                <a:latin typeface="Aptos"/>
              </a:rPr>
              <a:t>beach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006840" y="3291840"/>
            <a:ext cx="1965960" cy="329184"/>
          </a:xfrm>
          <a:prstGeom prst="roundRect">
            <a:avLst/>
          </a:prstGeom>
          <a:solidFill>
            <a:srgbClr val="192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144000" y="3355848"/>
            <a:ext cx="16459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F4F7FC"/>
                </a:solidFill>
                <a:latin typeface="Aptos"/>
              </a:rPr>
              <a:t>mountains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006840" y="3749039"/>
            <a:ext cx="1965960" cy="329184"/>
          </a:xfrm>
          <a:prstGeom prst="roundRect">
            <a:avLst/>
          </a:prstGeom>
          <a:solidFill>
            <a:srgbClr val="192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144000" y="3813048"/>
            <a:ext cx="16459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F4F7FC"/>
                </a:solidFill>
                <a:latin typeface="Aptos"/>
              </a:rPr>
              <a:t>city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5074920"/>
            <a:ext cx="1033272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4F7FC"/>
                </a:solidFill>
                <a:latin typeface="Aptos"/>
              </a:rPr>
              <a:t>Think of it as a fingerprint: similar-looking images tend to have similar fingerprints.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47472"/>
            <a:ext cx="1088136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00E6B4"/>
                </a:solidFill>
                <a:latin typeface="Aptos"/>
              </a:rPr>
              <a:t>04 / WHAT CAN IT RECOGNIZE?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F4F7FC"/>
                </a:solidFill>
                <a:latin typeface="Aptos"/>
              </a:rPr>
              <a:t>A broad menu of possible categories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07592"/>
            <a:ext cx="10789920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ADBBCF"/>
                </a:solidFill>
                <a:latin typeface="Aptos"/>
              </a:rPr>
              <a:t>The code groups candidate labels into families, then compares the image with them.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ADBBCF"/>
                </a:solidFill>
                <a:latin typeface="Aptos"/>
              </a:rP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3383280" cy="1188720"/>
          </a:xfrm>
          <a:prstGeom prst="roundRect">
            <a:avLst/>
          </a:prstGeom>
          <a:solidFill>
            <a:srgbClr val="14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2011680"/>
            <a:ext cx="64008" cy="1188720"/>
          </a:xfrm>
          <a:prstGeom prst="rect">
            <a:avLst/>
          </a:prstGeom>
          <a:solidFill>
            <a:srgbClr val="43B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2176272"/>
            <a:ext cx="29718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4F7FC"/>
                </a:solidFill>
                <a:latin typeface="Aptos"/>
              </a:rPr>
              <a:t>OBJECTS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606040"/>
            <a:ext cx="2926080" cy="4754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ADBBCF"/>
                </a:solidFill>
                <a:latin typeface="Aptos"/>
              </a:rPr>
              <a:t>Pets, furniture, phones, books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2011680"/>
            <a:ext cx="3383280" cy="1188720"/>
          </a:xfrm>
          <a:prstGeom prst="roundRect">
            <a:avLst/>
          </a:prstGeom>
          <a:solidFill>
            <a:srgbClr val="14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26280" y="2011680"/>
            <a:ext cx="64008" cy="1188720"/>
          </a:xfrm>
          <a:prstGeom prst="rect">
            <a:avLst/>
          </a:prstGeom>
          <a:solidFill>
            <a:srgbClr val="00E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54880" y="2176272"/>
            <a:ext cx="29718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4F7FC"/>
                </a:solidFill>
                <a:latin typeface="Aptos"/>
              </a:rPr>
              <a:t>PLACES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2606040"/>
            <a:ext cx="2926080" cy="4754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ADBBCF"/>
                </a:solidFill>
                <a:latin typeface="Aptos"/>
              </a:rPr>
              <a:t>Beaches, cities, forests, museums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21040" y="2011680"/>
            <a:ext cx="3383280" cy="1188720"/>
          </a:xfrm>
          <a:prstGeom prst="roundRect">
            <a:avLst/>
          </a:prstGeom>
          <a:solidFill>
            <a:srgbClr val="14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321040" y="2011680"/>
            <a:ext cx="64008" cy="1188720"/>
          </a:xfrm>
          <a:prstGeom prst="rect">
            <a:avLst/>
          </a:prstGeom>
          <a:solidFill>
            <a:srgbClr val="FFB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549640" y="2176272"/>
            <a:ext cx="29718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4F7FC"/>
                </a:solidFill>
                <a:latin typeface="Aptos"/>
              </a:rPr>
              <a:t>EVENTS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49640" y="2606040"/>
            <a:ext cx="2926080" cy="4754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ADBBCF"/>
                </a:solidFill>
                <a:latin typeface="Aptos"/>
              </a:rPr>
              <a:t>Weddings, concerts, sports, festivals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520440"/>
            <a:ext cx="3383280" cy="1188720"/>
          </a:xfrm>
          <a:prstGeom prst="roundRect">
            <a:avLst/>
          </a:prstGeom>
          <a:solidFill>
            <a:srgbClr val="14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31520" y="3520440"/>
            <a:ext cx="64008" cy="1188720"/>
          </a:xfrm>
          <a:prstGeom prst="rect">
            <a:avLst/>
          </a:prstGeom>
          <a:solidFill>
            <a:srgbClr val="6DE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60120" y="3685032"/>
            <a:ext cx="29718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4F7FC"/>
                </a:solidFill>
                <a:latin typeface="Aptos"/>
              </a:rPr>
              <a:t>NATURE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4114800"/>
            <a:ext cx="2926080" cy="4754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ADBBCF"/>
                </a:solidFill>
                <a:latin typeface="Aptos"/>
              </a:rPr>
              <a:t>Sunsets, rivers, wildlife, storms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26280" y="3520440"/>
            <a:ext cx="3383280" cy="1188720"/>
          </a:xfrm>
          <a:prstGeom prst="roundRect">
            <a:avLst/>
          </a:prstGeom>
          <a:solidFill>
            <a:srgbClr val="14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526280" y="3520440"/>
            <a:ext cx="64008" cy="1188720"/>
          </a:xfrm>
          <a:prstGeom prst="rect">
            <a:avLst/>
          </a:prstGeom>
          <a:solidFill>
            <a:srgbClr val="AE7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754880" y="3685032"/>
            <a:ext cx="29718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4F7FC"/>
                </a:solidFill>
                <a:latin typeface="Aptos"/>
              </a:rPr>
              <a:t>ARCHITECTURE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54880" y="4114800"/>
            <a:ext cx="2926080" cy="4754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ADBBCF"/>
                </a:solidFill>
                <a:latin typeface="Aptos"/>
              </a:rPr>
              <a:t>Temples, bridges, castles, homes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321040" y="3520440"/>
            <a:ext cx="3383280" cy="1188720"/>
          </a:xfrm>
          <a:prstGeom prst="roundRect">
            <a:avLst/>
          </a:prstGeom>
          <a:solidFill>
            <a:srgbClr val="14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321040" y="3520440"/>
            <a:ext cx="64008" cy="1188720"/>
          </a:xfrm>
          <a:prstGeom prst="rect">
            <a:avLst/>
          </a:prstGeom>
          <a:solidFill>
            <a:srgbClr val="FF8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549640" y="3685032"/>
            <a:ext cx="29718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4F7FC"/>
                </a:solidFill>
                <a:latin typeface="Aptos"/>
              </a:rPr>
              <a:t>FOOD &amp; CULTURE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49640" y="4114800"/>
            <a:ext cx="2926080" cy="4754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ADBBCF"/>
                </a:solidFill>
                <a:latin typeface="Aptos"/>
              </a:rPr>
              <a:t>Pizza, painting, dance, pottery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60120" y="5394960"/>
            <a:ext cx="10241280" cy="502920"/>
          </a:xfrm>
          <a:prstGeom prst="roundRect">
            <a:avLst/>
          </a:prstGeom>
          <a:solidFill>
            <a:srgbClr val="192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97280" y="5532120"/>
            <a:ext cx="996696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ADBBCF"/>
                </a:solidFill>
                <a:latin typeface="Aptos"/>
              </a:rPr>
              <a:t>These are candidate labels in the prototype — not a guarantee that every category will be recognized correctly.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47472"/>
            <a:ext cx="1088136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00E6B4"/>
                </a:solidFill>
                <a:latin typeface="Aptos"/>
              </a:rPr>
              <a:t>05 / HOW A MATCH IS CHOSEN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F4F7FC"/>
                </a:solidFill>
                <a:latin typeface="Aptos"/>
              </a:rPr>
              <a:t>Many candidates go in; the strongest matches come 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07592"/>
            <a:ext cx="10789920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ADBBCF"/>
                </a:solidFill>
                <a:latin typeface="Aptos"/>
              </a:rPr>
              <a:t>The model compares the image fingerprint with text descriptions of categories.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ADBBCF"/>
                </a:solidFill>
                <a:latin typeface="Aptos"/>
              </a:rP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2880360" cy="2286000"/>
          </a:xfrm>
          <a:prstGeom prst="roundRect">
            <a:avLst/>
          </a:prstGeom>
          <a:solidFill>
            <a:srgbClr val="14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2377440"/>
            <a:ext cx="22860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43B2FF"/>
                </a:solidFill>
                <a:latin typeface="Aptos"/>
              </a:rPr>
              <a:t>CATEGORY DESCRIPTIONS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834640"/>
            <a:ext cx="22860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ADBBCF"/>
                </a:solidFill>
                <a:latin typeface="Aptos"/>
              </a:rPr>
              <a:t>• a photo of a cat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154680"/>
            <a:ext cx="22860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ADBBCF"/>
                </a:solidFill>
                <a:latin typeface="Aptos"/>
              </a:rPr>
              <a:t>• a photo of a beach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474720"/>
            <a:ext cx="22860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ADBBCF"/>
                </a:solidFill>
                <a:latin typeface="Aptos"/>
              </a:rPr>
              <a:t>• a photo of a bridge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794760"/>
            <a:ext cx="22860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ADBBCF"/>
                </a:solidFill>
                <a:latin typeface="Aptos"/>
              </a:rPr>
              <a:t>• a photo of a sunset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03320" y="2880360"/>
            <a:ext cx="640080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ADBBCF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2103120"/>
            <a:ext cx="2971800" cy="2286000"/>
          </a:xfrm>
          <a:prstGeom prst="roundRect">
            <a:avLst/>
          </a:prstGeom>
          <a:solidFill>
            <a:srgbClr val="192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09160" y="2395728"/>
            <a:ext cx="242316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00E6B4"/>
                </a:solidFill>
                <a:latin typeface="Aptos"/>
              </a:rPr>
              <a:t>SIMILARITY SCORES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9160" y="2880360"/>
            <a:ext cx="7315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F4F7FC"/>
                </a:solidFill>
                <a:latin typeface="Aptos"/>
              </a:rPr>
              <a:t>beach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0" y="2898648"/>
            <a:ext cx="1417320" cy="155448"/>
          </a:xfrm>
          <a:prstGeom prst="roundRect">
            <a:avLst/>
          </a:prstGeom>
          <a:solidFill>
            <a:srgbClr val="2D3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486400" y="2898648"/>
            <a:ext cx="1218895" cy="155448"/>
          </a:xfrm>
          <a:prstGeom prst="roundRect">
            <a:avLst/>
          </a:prstGeom>
          <a:solidFill>
            <a:srgbClr val="00E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709160" y="3319272"/>
            <a:ext cx="7315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F4F7FC"/>
                </a:solidFill>
                <a:latin typeface="Aptos"/>
              </a:rPr>
              <a:t>sunset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0" y="3337560"/>
            <a:ext cx="1417320" cy="155448"/>
          </a:xfrm>
          <a:prstGeom prst="roundRect">
            <a:avLst/>
          </a:prstGeom>
          <a:solidFill>
            <a:srgbClr val="2D3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5486400" y="3337560"/>
            <a:ext cx="878738" cy="155448"/>
          </a:xfrm>
          <a:prstGeom prst="roundRect">
            <a:avLst/>
          </a:prstGeom>
          <a:solidFill>
            <a:srgbClr val="43B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709160" y="3758183"/>
            <a:ext cx="7315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F4F7FC"/>
                </a:solidFill>
                <a:latin typeface="Aptos"/>
              </a:rPr>
              <a:t>bridge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0" y="3776472"/>
            <a:ext cx="1417320" cy="155448"/>
          </a:xfrm>
          <a:prstGeom prst="roundRect">
            <a:avLst/>
          </a:prstGeom>
          <a:solidFill>
            <a:srgbClr val="2D3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5486400" y="3776472"/>
            <a:ext cx="340156" cy="155448"/>
          </a:xfrm>
          <a:prstGeom prst="roundRect">
            <a:avLst/>
          </a:prstGeom>
          <a:solidFill>
            <a:srgbClr val="AE7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543800" y="2880360"/>
            <a:ext cx="640080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ADBBCF"/>
                </a:solidFill>
                <a:latin typeface="Aptos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75320" y="2103120"/>
            <a:ext cx="3108960" cy="2286000"/>
          </a:xfrm>
          <a:prstGeom prst="roundRect">
            <a:avLst/>
          </a:prstGeom>
          <a:solidFill>
            <a:srgbClr val="14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549640" y="2395728"/>
            <a:ext cx="25603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B74D"/>
                </a:solidFill>
                <a:latin typeface="Aptos"/>
              </a:rPr>
              <a:t>SUGGESTED RESULT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95360" y="2926080"/>
            <a:ext cx="246888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00E6B4"/>
                </a:solidFill>
                <a:latin typeface="Aptos"/>
              </a:rPr>
              <a:t>1. Beach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5360" y="3429000"/>
            <a:ext cx="246888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F4F7FC"/>
                </a:solidFill>
                <a:latin typeface="Aptos"/>
              </a:rPr>
              <a:t>2. Sunset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60" y="3794760"/>
            <a:ext cx="246888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ADBBCF"/>
                </a:solidFill>
                <a:latin typeface="Aptos"/>
              </a:rPr>
              <a:t>3. Other possibilities…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4983480"/>
            <a:ext cx="10332720" cy="5943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ADBBCF"/>
                </a:solidFill>
                <a:latin typeface="Aptos"/>
              </a:rPr>
              <a:t>The percentages shown here are illustrative. In the current code, scores are relative to the candidate list, not guaranteed real-world probabilities.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47472"/>
            <a:ext cx="1088136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00E6B4"/>
                </a:solidFill>
                <a:latin typeface="Aptos"/>
              </a:rPr>
              <a:t>06 / ADAPTIVE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F4F7FC"/>
                </a:solidFill>
                <a:latin typeface="Aptos"/>
              </a:rPr>
              <a:t>The output changes when the model is unsure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07592"/>
            <a:ext cx="10789920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ADBBCF"/>
                </a:solidFill>
                <a:latin typeface="Aptos"/>
              </a:rPr>
              <a:t>A simple decision rule decides whether to show one or two leading matches, or a wider shortlist.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ADBBCF"/>
                </a:solidFill>
                <a:latin typeface="Aptos"/>
              </a:rP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148840"/>
            <a:ext cx="3337560" cy="2148840"/>
          </a:xfrm>
          <a:prstGeom prst="roundRect">
            <a:avLst/>
          </a:prstGeom>
          <a:solidFill>
            <a:srgbClr val="14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2148840"/>
            <a:ext cx="64008" cy="2148840"/>
          </a:xfrm>
          <a:prstGeom prst="rect">
            <a:avLst/>
          </a:prstGeom>
          <a:solidFill>
            <a:srgbClr val="00E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78408" y="2313432"/>
            <a:ext cx="41148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00E6B4"/>
                </a:solidFill>
                <a:latin typeface="Aptos"/>
              </a:rPr>
              <a:t>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313432"/>
            <a:ext cx="2468879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4F7FC"/>
                </a:solidFill>
                <a:latin typeface="Aptos"/>
              </a:rPr>
              <a:t>Clear leading match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743200"/>
            <a:ext cx="2880360" cy="1435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ADBBCF"/>
                </a:solidFill>
                <a:latin typeface="Aptos"/>
              </a:rPr>
              <a:t>Show the strongest category when it stands well above the others.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2148840"/>
            <a:ext cx="3337560" cy="2148840"/>
          </a:xfrm>
          <a:prstGeom prst="roundRect">
            <a:avLst/>
          </a:prstGeom>
          <a:solidFill>
            <a:srgbClr val="14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434840" y="2148840"/>
            <a:ext cx="64008" cy="2148840"/>
          </a:xfrm>
          <a:prstGeom prst="rect">
            <a:avLst/>
          </a:prstGeom>
          <a:solidFill>
            <a:srgbClr val="43B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36007" y="2313432"/>
            <a:ext cx="41148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43B2FF"/>
                </a:solidFill>
                <a:latin typeface="Aptos"/>
              </a:rPr>
              <a:t>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2313432"/>
            <a:ext cx="2468879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4F7FC"/>
                </a:solidFill>
                <a:latin typeface="Aptos"/>
              </a:rPr>
              <a:t>Two close matches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2743200"/>
            <a:ext cx="2880360" cy="1435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ADBBCF"/>
                </a:solidFill>
                <a:latin typeface="Aptos"/>
              </a:rPr>
              <a:t>Show two when the runner-up is also competitive.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2148840"/>
            <a:ext cx="3337560" cy="2148840"/>
          </a:xfrm>
          <a:prstGeom prst="roundRect">
            <a:avLst/>
          </a:prstGeom>
          <a:solidFill>
            <a:srgbClr val="14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92440" y="2148840"/>
            <a:ext cx="64008" cy="2148840"/>
          </a:xfrm>
          <a:prstGeom prst="rect">
            <a:avLst/>
          </a:prstGeom>
          <a:solidFill>
            <a:srgbClr val="FFB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93608" y="2313432"/>
            <a:ext cx="41148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FFB74D"/>
                </a:solidFill>
                <a:latin typeface="Aptos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78240" y="2313432"/>
            <a:ext cx="2468879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4F7FC"/>
                </a:solidFill>
                <a:latin typeface="Aptos"/>
              </a:rPr>
              <a:t>Uncertain result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2743200"/>
            <a:ext cx="2880360" cy="1435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ADBBCF"/>
                </a:solidFill>
                <a:latin typeface="Aptos"/>
              </a:rPr>
              <a:t>Show the top five options instead of pretending there is one clear answer.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4983480"/>
            <a:ext cx="1014984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4F7FC"/>
                </a:solidFill>
                <a:latin typeface="Aptos"/>
              </a:rPr>
              <a:t>This is a ranking aid: a person should check whether the suggestions fit the actual image.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47472"/>
            <a:ext cx="1088136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00E6B4"/>
                </a:solidFill>
                <a:latin typeface="Aptos"/>
              </a:rPr>
              <a:t>07 / EXTRA DISCOVERY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F4F7FC"/>
                </a:solidFill>
                <a:latin typeface="Aptos"/>
              </a:rPr>
              <a:t>A second step can find related Commons categories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07592"/>
            <a:ext cx="10789920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ADBBCF"/>
                </a:solidFill>
                <a:latin typeface="Aptos"/>
              </a:rPr>
              <a:t>When a Gemini API key is available, the app asks for a few keywords and searches Wikimedia Commons.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ADBBCF"/>
                </a:solidFill>
                <a:latin typeface="Aptos"/>
              </a:rPr>
              <a:t>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240280"/>
            <a:ext cx="3246120" cy="1965960"/>
          </a:xfrm>
          <a:prstGeom prst="roundRect">
            <a:avLst/>
          </a:prstGeom>
          <a:solidFill>
            <a:srgbClr val="14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2240280"/>
            <a:ext cx="64008" cy="1965960"/>
          </a:xfrm>
          <a:prstGeom prst="rect">
            <a:avLst/>
          </a:prstGeom>
          <a:solidFill>
            <a:srgbClr val="AE7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78408" y="2404872"/>
            <a:ext cx="41148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AE74FF"/>
                </a:solidFill>
                <a:latin typeface="Aptos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404872"/>
            <a:ext cx="2377439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4F7FC"/>
                </a:solidFill>
                <a:latin typeface="Aptos"/>
              </a:rPr>
              <a:t>Gemini keywords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834640"/>
            <a:ext cx="2788920" cy="12527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ADBBCF"/>
                </a:solidFill>
                <a:latin typeface="Aptos"/>
              </a:rPr>
              <a:t>Suggests three short terms that describe the image.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2240280"/>
            <a:ext cx="3246120" cy="1965960"/>
          </a:xfrm>
          <a:prstGeom prst="roundRect">
            <a:avLst/>
          </a:prstGeom>
          <a:solidFill>
            <a:srgbClr val="14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480560" y="2240280"/>
            <a:ext cx="64008" cy="1965960"/>
          </a:xfrm>
          <a:prstGeom prst="rect">
            <a:avLst/>
          </a:prstGeom>
          <a:solidFill>
            <a:srgbClr val="43B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81728" y="2404872"/>
            <a:ext cx="41148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43B2FF"/>
                </a:solidFill>
                <a:latin typeface="Aptos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66360" y="2404872"/>
            <a:ext cx="2377439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4F7FC"/>
                </a:solidFill>
                <a:latin typeface="Aptos"/>
              </a:rPr>
              <a:t>Commons search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9160" y="2834640"/>
            <a:ext cx="2788920" cy="12527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ADBBCF"/>
                </a:solidFill>
                <a:latin typeface="Aptos"/>
              </a:rPr>
              <a:t>Looks for category pages related to those terms.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83879" y="2240280"/>
            <a:ext cx="3246120" cy="1965960"/>
          </a:xfrm>
          <a:prstGeom prst="roundRect">
            <a:avLst/>
          </a:prstGeom>
          <a:solidFill>
            <a:srgbClr val="14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183879" y="2240280"/>
            <a:ext cx="64008" cy="1965960"/>
          </a:xfrm>
          <a:prstGeom prst="rect">
            <a:avLst/>
          </a:prstGeom>
          <a:solidFill>
            <a:srgbClr val="00E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85048" y="2404872"/>
            <a:ext cx="41148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00E6B4"/>
                </a:solidFill>
                <a:latin typeface="Aptos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0" y="2404872"/>
            <a:ext cx="2377439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4F7FC"/>
                </a:solidFill>
                <a:latin typeface="Aptos"/>
              </a:rPr>
              <a:t>Extra discoveries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2834640"/>
            <a:ext cx="2788920" cy="12527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ADBBCF"/>
                </a:solidFill>
                <a:latin typeface="Aptos"/>
              </a:rPr>
              <a:t>Adds some matching category-page titles to the results.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" y="4800600"/>
            <a:ext cx="10332720" cy="749808"/>
          </a:xfrm>
          <a:prstGeom prst="roundRect">
            <a:avLst/>
          </a:prstGeom>
          <a:solidFill>
            <a:srgbClr val="192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143000" y="5010912"/>
            <a:ext cx="98755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ADBBCF"/>
                </a:solidFill>
                <a:latin typeface="Aptos"/>
              </a:rPr>
              <a:t>This enrichment is optional. If the API key is missing or the request fails, the core CLIP results can still be returned.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47472"/>
            <a:ext cx="1088136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00E6B4"/>
                </a:solidFill>
                <a:latin typeface="Aptos"/>
              </a:rPr>
              <a:t>08 / LEARNING FROM CORRECTIONS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F4F7FC"/>
                </a:solidFill>
                <a:latin typeface="Aptos"/>
              </a:rPr>
              <a:t>People can teach the app about an edge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07592"/>
            <a:ext cx="10789920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ADBBCF"/>
                </a:solidFill>
                <a:latin typeface="Aptos"/>
              </a:rPr>
              <a:t>A correction is saved as a visual example with the category label supplied by the user.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ADBBCF"/>
                </a:solidFill>
                <a:latin typeface="Aptos"/>
              </a:rPr>
              <a:t>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240280"/>
            <a:ext cx="3337560" cy="1920240"/>
          </a:xfrm>
          <a:prstGeom prst="roundRect">
            <a:avLst/>
          </a:prstGeom>
          <a:solidFill>
            <a:srgbClr val="14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22960" y="2240280"/>
            <a:ext cx="64008" cy="1920240"/>
          </a:xfrm>
          <a:prstGeom prst="rect">
            <a:avLst/>
          </a:prstGeom>
          <a:solidFill>
            <a:srgbClr val="43B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2404872"/>
            <a:ext cx="2926079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4F7FC"/>
                </a:solidFill>
                <a:latin typeface="Aptos"/>
              </a:rPr>
              <a:t>1. 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834640"/>
            <a:ext cx="2880360" cy="12070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ADBBCF"/>
                </a:solidFill>
                <a:latin typeface="Aptos"/>
              </a:rPr>
              <a:t>A user spots a wrong or unusual suggestion.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2971800"/>
            <a:ext cx="36576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ADBBCF"/>
                </a:solidFill>
                <a:latin typeface="Aptos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17720" y="2240280"/>
            <a:ext cx="3337560" cy="1920240"/>
          </a:xfrm>
          <a:prstGeom prst="roundRect">
            <a:avLst/>
          </a:prstGeom>
          <a:solidFill>
            <a:srgbClr val="14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617720" y="2240280"/>
            <a:ext cx="64008" cy="1920240"/>
          </a:xfrm>
          <a:prstGeom prst="rect">
            <a:avLst/>
          </a:prstGeom>
          <a:solidFill>
            <a:srgbClr val="FFB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846320" y="2404872"/>
            <a:ext cx="2926079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4F7FC"/>
                </a:solidFill>
                <a:latin typeface="Aptos"/>
              </a:rPr>
              <a:t>2. Correct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2834640"/>
            <a:ext cx="2880360" cy="12070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ADBBCF"/>
                </a:solidFill>
                <a:latin typeface="Aptos"/>
              </a:rPr>
              <a:t>They enter the right category and optional subcategory.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79" y="2971800"/>
            <a:ext cx="36576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ADBBCF"/>
                </a:solidFill>
                <a:latin typeface="Aptos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12480" y="2240280"/>
            <a:ext cx="3337560" cy="1920240"/>
          </a:xfrm>
          <a:prstGeom prst="roundRect">
            <a:avLst/>
          </a:prstGeom>
          <a:solidFill>
            <a:srgbClr val="14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412480" y="2240280"/>
            <a:ext cx="64008" cy="1920240"/>
          </a:xfrm>
          <a:prstGeom prst="rect">
            <a:avLst/>
          </a:prstGeom>
          <a:solidFill>
            <a:srgbClr val="00E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641080" y="2404872"/>
            <a:ext cx="2926079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4F7FC"/>
                </a:solidFill>
                <a:latin typeface="Aptos"/>
              </a:rPr>
              <a:t>3. Remember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41080" y="2834640"/>
            <a:ext cx="2880360" cy="12070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ADBBCF"/>
                </a:solidFill>
                <a:latin typeface="Aptos"/>
              </a:rPr>
              <a:t>The image fingerprint and label are saved to disk.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4754880"/>
            <a:ext cx="10332720" cy="868680"/>
          </a:xfrm>
          <a:prstGeom prst="roundRect">
            <a:avLst/>
          </a:prstGeom>
          <a:solidFill>
            <a:srgbClr val="192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143000" y="4956048"/>
            <a:ext cx="987552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4F7FC"/>
                </a:solidFill>
                <a:latin typeface="Aptos"/>
              </a:rPr>
              <a:t>On a later image, a very similar fingerprint can trigger a direct memory match.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806440"/>
            <a:ext cx="103327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B74D"/>
                </a:solidFill>
                <a:latin typeface="Aptos"/>
              </a:rPr>
              <a:t>Important: this stores examples; it does not retrain the CLIP model itself.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47472"/>
            <a:ext cx="1088136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00E6B4"/>
                </a:solidFill>
                <a:latin typeface="Aptos"/>
              </a:rPr>
              <a:t>09 / KEEPING IT PRACTICAL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F4F7FC"/>
                </a:solidFill>
                <a:latin typeface="Aptos"/>
              </a:rPr>
              <a:t>Prepare once, reuse many times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07592"/>
            <a:ext cx="10789920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ADBBCF"/>
                </a:solidFill>
                <a:latin typeface="Aptos"/>
              </a:rPr>
              <a:t>The app saves category-text embeddings so it does not need to recompute them on every restart.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ADBBCF"/>
                </a:solidFill>
                <a:latin typeface="Aptos"/>
              </a:rP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2240280"/>
            <a:ext cx="4800600" cy="2148840"/>
          </a:xfrm>
          <a:prstGeom prst="roundRect">
            <a:avLst/>
          </a:prstGeom>
          <a:solidFill>
            <a:srgbClr val="14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68680" y="2240280"/>
            <a:ext cx="64008" cy="2148840"/>
          </a:xfrm>
          <a:prstGeom prst="rect">
            <a:avLst/>
          </a:prstGeom>
          <a:solidFill>
            <a:srgbClr val="43B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69848" y="2404872"/>
            <a:ext cx="41148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43B2FF"/>
                </a:solidFill>
                <a:latin typeface="Aptos"/>
              </a:rPr>
              <a:t>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404872"/>
            <a:ext cx="39319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4F7FC"/>
                </a:solidFill>
                <a:latin typeface="Aptos"/>
              </a:rPr>
              <a:t>First run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834640"/>
            <a:ext cx="4343400" cy="1435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ADBBCF"/>
                </a:solidFill>
                <a:latin typeface="Aptos"/>
              </a:rPr>
              <a:t>CLIP converts the category descriptions into numerical representations and saves them in a cache file.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46520" y="2240280"/>
            <a:ext cx="4800600" cy="2148840"/>
          </a:xfrm>
          <a:prstGeom prst="roundRect">
            <a:avLst/>
          </a:prstGeom>
          <a:solidFill>
            <a:srgbClr val="14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446520" y="2240280"/>
            <a:ext cx="64008" cy="2148840"/>
          </a:xfrm>
          <a:prstGeom prst="rect">
            <a:avLst/>
          </a:prstGeom>
          <a:solidFill>
            <a:srgbClr val="00E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47688" y="2404872"/>
            <a:ext cx="41148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00E6B4"/>
                </a:solidFill>
                <a:latin typeface="Aptos"/>
              </a:rPr>
              <a:t>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0" y="2404872"/>
            <a:ext cx="39319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4F7FC"/>
                </a:solidFill>
                <a:latin typeface="Aptos"/>
              </a:rPr>
              <a:t>Later runs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2834640"/>
            <a:ext cx="4343400" cy="1435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ADBBCF"/>
                </a:solidFill>
                <a:latin typeface="Aptos"/>
              </a:rPr>
              <a:t>The app loads the saved representations, reducing startup work.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15000" y="2971800"/>
            <a:ext cx="548640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ADBBCF"/>
                </a:solidFill>
                <a:latin typeface="Aptos"/>
              </a:rP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074920"/>
            <a:ext cx="10241280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ADBBCF"/>
                </a:solidFill>
                <a:latin typeface="Aptos"/>
              </a:rPr>
              <a:t>The speed benefit depends on the machine, available memory, and whether the cache already exists.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47472"/>
            <a:ext cx="1088136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00E6B4"/>
                </a:solidFill>
                <a:latin typeface="Aptos"/>
              </a:rPr>
              <a:t>10 / ONE COMPLETE RUN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F4F7FC"/>
                </a:solidFill>
                <a:latin typeface="Aptos"/>
              </a:rPr>
              <a:t>The journey from upload to result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07592"/>
            <a:ext cx="10789920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ADBBCF"/>
                </a:solidFill>
                <a:latin typeface="Aptos"/>
              </a:rPr>
              <a:t>Here is the whole workflow in one view.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ADBBCF"/>
                </a:solidFill>
                <a:latin typeface="Aptos"/>
              </a:rP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103120"/>
            <a:ext cx="3337560" cy="868680"/>
          </a:xfrm>
          <a:prstGeom prst="roundRect">
            <a:avLst/>
          </a:prstGeom>
          <a:solidFill>
            <a:srgbClr val="192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82296" cy="868680"/>
          </a:xfrm>
          <a:prstGeom prst="rect">
            <a:avLst/>
          </a:prstGeom>
          <a:solidFill>
            <a:srgbClr val="43B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2350008"/>
            <a:ext cx="28346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4F7FC"/>
                </a:solidFill>
                <a:latin typeface="Aptos"/>
              </a:rPr>
              <a:t>Upload image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78808" y="2350008"/>
            <a:ext cx="32004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ADBBCF"/>
                </a:solidFill>
                <a:latin typeface="Aptos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2103120"/>
            <a:ext cx="3337560" cy="868680"/>
          </a:xfrm>
          <a:prstGeom prst="roundRect">
            <a:avLst/>
          </a:prstGeom>
          <a:solidFill>
            <a:srgbClr val="192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0" y="2103120"/>
            <a:ext cx="82296" cy="868680"/>
          </a:xfrm>
          <a:prstGeom prst="rect">
            <a:avLst/>
          </a:prstGeom>
          <a:solidFill>
            <a:srgbClr val="00E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800600" y="2350008"/>
            <a:ext cx="28346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4F7FC"/>
                </a:solidFill>
                <a:latin typeface="Aptos"/>
              </a:rPr>
              <a:t>Create fingerprint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73568" y="2350008"/>
            <a:ext cx="32004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ADBBCF"/>
                </a:solidFill>
                <a:latin typeface="Aptos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66760" y="2103120"/>
            <a:ext cx="3337560" cy="868680"/>
          </a:xfrm>
          <a:prstGeom prst="roundRect">
            <a:avLst/>
          </a:prstGeom>
          <a:solidFill>
            <a:srgbClr val="192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366760" y="2103120"/>
            <a:ext cx="82296" cy="868680"/>
          </a:xfrm>
          <a:prstGeom prst="rect">
            <a:avLst/>
          </a:prstGeom>
          <a:solidFill>
            <a:srgbClr val="AE7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595360" y="2350008"/>
            <a:ext cx="28346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4F7FC"/>
                </a:solidFill>
                <a:latin typeface="Aptos"/>
              </a:rPr>
              <a:t>Check saved examples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520439"/>
            <a:ext cx="3337560" cy="868680"/>
          </a:xfrm>
          <a:prstGeom prst="roundRect">
            <a:avLst/>
          </a:prstGeom>
          <a:solidFill>
            <a:srgbClr val="192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77240" y="3520439"/>
            <a:ext cx="82296" cy="868680"/>
          </a:xfrm>
          <a:prstGeom prst="rect">
            <a:avLst/>
          </a:prstGeom>
          <a:solidFill>
            <a:srgbClr val="FFB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05840" y="3767327"/>
            <a:ext cx="28346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4F7FC"/>
                </a:solidFill>
                <a:latin typeface="Aptos"/>
              </a:rPr>
              <a:t>Compare category text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78808" y="3767327"/>
            <a:ext cx="32004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ADBBCF"/>
                </a:solidFill>
                <a:latin typeface="Aptos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0" y="3520439"/>
            <a:ext cx="3337560" cy="868680"/>
          </a:xfrm>
          <a:prstGeom prst="roundRect">
            <a:avLst/>
          </a:prstGeom>
          <a:solidFill>
            <a:srgbClr val="192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572000" y="3520439"/>
            <a:ext cx="82296" cy="868680"/>
          </a:xfrm>
          <a:prstGeom prst="rect">
            <a:avLst/>
          </a:prstGeom>
          <a:solidFill>
            <a:srgbClr val="43B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800600" y="3767327"/>
            <a:ext cx="28346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4F7FC"/>
                </a:solidFill>
                <a:latin typeface="Aptos"/>
              </a:rPr>
              <a:t>Choose top matches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5394960"/>
            <a:ext cx="1024128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00E6B4"/>
                </a:solidFill>
                <a:latin typeface="Aptos"/>
              </a:rPr>
              <a:t>Result: category suggestions plus a status message — ready for a human to review.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47472"/>
            <a:ext cx="1088136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00E6B4"/>
                </a:solidFill>
                <a:latin typeface="Aptos"/>
              </a:rPr>
              <a:t>11 / HONEST 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F4F7FC"/>
                </a:solidFill>
                <a:latin typeface="Aptos"/>
              </a:rPr>
              <a:t>Useful prototype — not a perfect classifier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07592"/>
            <a:ext cx="10789920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ADBBCF"/>
                </a:solidFill>
                <a:latin typeface="Aptos"/>
              </a:rPr>
              <a:t>A few details matter when interpreting the output.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36576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ADBBCF"/>
                </a:solidFill>
                <a:latin typeface="Aptos"/>
              </a:rP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965960"/>
            <a:ext cx="3337560" cy="1417320"/>
          </a:xfrm>
          <a:prstGeom prst="roundRect">
            <a:avLst/>
          </a:prstGeom>
          <a:solidFill>
            <a:srgbClr val="14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965960"/>
            <a:ext cx="64008" cy="1417320"/>
          </a:xfrm>
          <a:prstGeom prst="rect">
            <a:avLst/>
          </a:prstGeom>
          <a:solidFill>
            <a:srgbClr val="FFB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2130552"/>
            <a:ext cx="2926079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4F7FC"/>
                </a:solidFill>
                <a:latin typeface="Aptos"/>
              </a:rPr>
              <a:t>Scores are relative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560320"/>
            <a:ext cx="2880360" cy="704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ADBBCF"/>
                </a:solidFill>
                <a:latin typeface="Aptos"/>
              </a:rPr>
              <a:t>Softmax scores depend on the candidate set; they are not calibrated confidence.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965960"/>
            <a:ext cx="3337560" cy="1417320"/>
          </a:xfrm>
          <a:prstGeom prst="roundRect">
            <a:avLst/>
          </a:prstGeom>
          <a:solidFill>
            <a:srgbClr val="14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434840" y="1965960"/>
            <a:ext cx="64008" cy="1417320"/>
          </a:xfrm>
          <a:prstGeom prst="rect">
            <a:avLst/>
          </a:prstGeom>
          <a:solidFill>
            <a:srgbClr val="43B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63440" y="2130552"/>
            <a:ext cx="2926079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4F7FC"/>
                </a:solidFill>
                <a:latin typeface="Aptos"/>
              </a:rPr>
              <a:t>Limited label menu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560320"/>
            <a:ext cx="2880360" cy="704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ADBBCF"/>
                </a:solidFill>
                <a:latin typeface="Aptos"/>
              </a:rPr>
              <a:t>The model can only directly compare against the labels included in its taxonomy.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965960"/>
            <a:ext cx="3337560" cy="1417320"/>
          </a:xfrm>
          <a:prstGeom prst="roundRect">
            <a:avLst/>
          </a:prstGeom>
          <a:solidFill>
            <a:srgbClr val="14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92440" y="1965960"/>
            <a:ext cx="64008" cy="1417320"/>
          </a:xfrm>
          <a:prstGeom prst="rect">
            <a:avLst/>
          </a:prstGeom>
          <a:solidFill>
            <a:srgbClr val="AE7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21040" y="2130552"/>
            <a:ext cx="2926079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4F7FC"/>
                </a:solidFill>
                <a:latin typeface="Aptos"/>
              </a:rPr>
              <a:t>Memory can overmatch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560320"/>
            <a:ext cx="2880360" cy="704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ADBBCF"/>
                </a:solidFill>
                <a:latin typeface="Aptos"/>
              </a:rPr>
              <a:t>A very high similarity threshold can return a saved label even when context differs.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3703320"/>
            <a:ext cx="3337560" cy="1417320"/>
          </a:xfrm>
          <a:prstGeom prst="roundRect">
            <a:avLst/>
          </a:prstGeom>
          <a:solidFill>
            <a:srgbClr val="14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77240" y="3703320"/>
            <a:ext cx="64008" cy="1417320"/>
          </a:xfrm>
          <a:prstGeom prst="rect">
            <a:avLst/>
          </a:prstGeom>
          <a:solidFill>
            <a:srgbClr val="00E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05840" y="3867911"/>
            <a:ext cx="2926079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4F7FC"/>
                </a:solidFill>
                <a:latin typeface="Aptos"/>
              </a:rPr>
              <a:t>No automatic retraining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4297680"/>
            <a:ext cx="2880360" cy="704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ADBBCF"/>
                </a:solidFill>
                <a:latin typeface="Aptos"/>
              </a:rPr>
              <a:t>Corrections add stored examples; CLIP weights remain unchanged.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34840" y="3703320"/>
            <a:ext cx="3337560" cy="1417320"/>
          </a:xfrm>
          <a:prstGeom prst="roundRect">
            <a:avLst/>
          </a:prstGeom>
          <a:solidFill>
            <a:srgbClr val="14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434840" y="3703320"/>
            <a:ext cx="64008" cy="1417320"/>
          </a:xfrm>
          <a:prstGeom prst="rect">
            <a:avLst/>
          </a:prstGeom>
          <a:solidFill>
            <a:srgbClr val="43B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663440" y="3867911"/>
            <a:ext cx="2926079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4F7FC"/>
                </a:solidFill>
                <a:latin typeface="Aptos"/>
              </a:rPr>
              <a:t>Optional online service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40" y="4297680"/>
            <a:ext cx="2880360" cy="704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ADBBCF"/>
                </a:solidFill>
                <a:latin typeface="Aptos"/>
              </a:rPr>
              <a:t>Gemini enrichment needs a working API key and network access.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92440" y="3703320"/>
            <a:ext cx="3337560" cy="1417320"/>
          </a:xfrm>
          <a:prstGeom prst="roundRect">
            <a:avLst/>
          </a:prstGeom>
          <a:solidFill>
            <a:srgbClr val="14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092440" y="3703320"/>
            <a:ext cx="64008" cy="1417320"/>
          </a:xfrm>
          <a:prstGeom prst="rect">
            <a:avLst/>
          </a:prstGeom>
          <a:solidFill>
            <a:srgbClr val="FFB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321040" y="3867911"/>
            <a:ext cx="2926079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4F7FC"/>
                </a:solidFill>
                <a:latin typeface="Aptos"/>
              </a:rPr>
              <a:t>Human review matters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4297680"/>
            <a:ext cx="2880360" cy="704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ADBBCF"/>
                </a:solidFill>
                <a:latin typeface="Aptos"/>
              </a:rPr>
              <a:t>Suggestions may be wrong; review before using categories.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731520"/>
            <a:ext cx="22860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E6B4"/>
                </a:solidFill>
                <a:latin typeface="Aptos"/>
              </a:rPr>
              <a:t>THE TAKEAWAY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9875520" cy="10058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4F7FC"/>
                </a:solidFill>
                <a:latin typeface="Aptos"/>
              </a:rPr>
              <a:t>MemoryTag AI turns images into searchable suggestions.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560320"/>
            <a:ext cx="8686800" cy="6858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ADBBCF"/>
                </a:solidFill>
                <a:latin typeface="Aptos"/>
              </a:rPr>
              <a:t>It combines a pre-trained visual model, text-based matching, a small memory of corrections, and optional Wikimedia discovery.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4069080"/>
            <a:ext cx="2880360" cy="822960"/>
          </a:xfrm>
          <a:prstGeom prst="roundRect">
            <a:avLst/>
          </a:prstGeom>
          <a:solidFill>
            <a:srgbClr val="192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1560" y="4297680"/>
            <a:ext cx="4572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43B2FF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4270248"/>
            <a:ext cx="19202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4F7FC"/>
                </a:solidFill>
                <a:latin typeface="Aptos"/>
              </a:rPr>
              <a:t>Recognize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0" y="4069080"/>
            <a:ext cx="2880360" cy="822960"/>
          </a:xfrm>
          <a:prstGeom prst="roundRect">
            <a:avLst/>
          </a:prstGeom>
          <a:solidFill>
            <a:srgbClr val="192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389120" y="4297680"/>
            <a:ext cx="4572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AE74FF"/>
                </a:solidFill>
                <a:latin typeface="Aptos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59" y="4270248"/>
            <a:ext cx="19202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4F7FC"/>
                </a:solidFill>
                <a:latin typeface="Aptos"/>
              </a:rPr>
              <a:t>Rank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43800" y="4069080"/>
            <a:ext cx="2880360" cy="822960"/>
          </a:xfrm>
          <a:prstGeom prst="roundRect">
            <a:avLst/>
          </a:prstGeom>
          <a:solidFill>
            <a:srgbClr val="192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26679" y="4297680"/>
            <a:ext cx="4572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00E6B4"/>
                </a:solidFill>
                <a:latin typeface="Aptos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4270248"/>
            <a:ext cx="19202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4F7FC"/>
                </a:solidFill>
                <a:latin typeface="Aptos"/>
              </a:rPr>
              <a:t>Learn from examples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715000"/>
            <a:ext cx="987552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00E6B4"/>
                </a:solidFill>
                <a:latin typeface="Aptos"/>
              </a:rPr>
              <a:t>Thank you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473952"/>
            <a:ext cx="36576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ADBBCF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sh">
  <a:themeElements>
    <a:clrScheme name="Mesh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Mesh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esh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TM03457485[[fn=Mesh]]</Template>
  <TotalTime>53</TotalTime>
  <Words>1028</Words>
  <Application>Microsoft Office PowerPoint</Application>
  <PresentationFormat>Widescreen</PresentationFormat>
  <Paragraphs>183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Arial</vt:lpstr>
      <vt:lpstr>Century Gothic</vt:lpstr>
      <vt:lpstr>Mesh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gautam rao</cp:lastModifiedBy>
  <cp:revision>3</cp:revision>
  <dcterms:created xsi:type="dcterms:W3CDTF">2013-01-27T09:14:16Z</dcterms:created>
  <dcterms:modified xsi:type="dcterms:W3CDTF">2026-10-11T05:53:39Z</dcterms:modified>
  <cp:category/>
</cp:coreProperties>
</file>